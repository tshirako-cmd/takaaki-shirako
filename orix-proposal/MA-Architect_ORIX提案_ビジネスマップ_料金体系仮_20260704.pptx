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0" y="162000"/>
            <a:ext cx="3096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"/>
              </a:spcAft>
            </a:pPr>
            <a:r>
              <a:rPr sz="700" b="1" i="0">
                <a:solidFill>
                  <a:srgbClr val="C00000"/>
                </a:solidFill>
                <a:latin typeface="Yu Gothic"/>
                <a:ea typeface="Yu Gothic"/>
              </a:rPr>
              <a:t>Strictly Confidential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000" y="360000"/>
            <a:ext cx="72000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550" b="1" i="0">
                <a:solidFill>
                  <a:srgbClr val="1F3864"/>
                </a:solidFill>
                <a:latin typeface="Yu Gothic"/>
                <a:ea typeface="Yu Gothic"/>
              </a:rPr>
              <a:t>M&amp;A Architect ビジネスマップ</a:t>
            </a:r>
            <a:r>
              <a:rPr sz="1050" b="1" i="0">
                <a:solidFill>
                  <a:srgbClr val="44546A"/>
                </a:solidFill>
                <a:latin typeface="Yu Gothic"/>
                <a:ea typeface="Yu Gothic"/>
              </a:rPr>
              <a:t>  ／ Business Map</a:t>
            </a:r>
          </a:p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800" b="0" i="0">
                <a:solidFill>
                  <a:srgbClr val="44546A"/>
                </a:solidFill>
                <a:latin typeface="Yu Gothic"/>
                <a:ea typeface="Yu Gothic"/>
              </a:rPr>
              <a:t>買い手のM&amp;A機能を、設計する</a:t>
            </a:r>
            <a:r>
              <a:rPr sz="800" b="1" i="0">
                <a:solidFill>
                  <a:srgbClr val="333333"/>
                </a:solidFill>
                <a:latin typeface="Yu Gothic"/>
                <a:ea typeface="Yu Gothic"/>
              </a:rPr>
              <a:t>独自AIシステム</a:t>
            </a:r>
            <a:r>
              <a:rPr sz="800" b="0" i="0">
                <a:solidFill>
                  <a:srgbClr val="44546A"/>
                </a:solidFill>
                <a:latin typeface="Yu Gothic"/>
                <a:ea typeface="Yu Gothic"/>
              </a:rPr>
              <a:t>。</a:t>
            </a:r>
            <a:r>
              <a:rPr sz="800" b="1" i="0">
                <a:solidFill>
                  <a:srgbClr val="333333"/>
                </a:solidFill>
                <a:latin typeface="Yu Gothic"/>
                <a:ea typeface="Yu Gothic"/>
              </a:rPr>
              <a:t>誰の・どんな課題を・どう解決するか</a:t>
            </a:r>
            <a:r>
              <a:rPr sz="800" b="0" i="0">
                <a:solidFill>
                  <a:srgbClr val="44546A"/>
                </a:solidFill>
                <a:latin typeface="Yu Gothic"/>
                <a:ea typeface="Yu Gothic"/>
              </a:rPr>
              <a:t>——想定顧客と利用シーンで見る全体像。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0" y="360000"/>
            <a:ext cx="3096000" cy="468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900" b="1" i="0">
                <a:solidFill>
                  <a:srgbClr val="1F3864"/>
                </a:solidFill>
                <a:latin typeface="Yu Gothic"/>
                <a:ea typeface="Yu Gothic"/>
              </a:rPr>
              <a:t>DESIGN</a:t>
            </a:r>
            <a:r>
              <a:rPr sz="900" b="1" i="0">
                <a:solidFill>
                  <a:srgbClr val="D4A017"/>
                </a:solidFill>
                <a:latin typeface="Yu Gothic"/>
                <a:ea typeface="Yu Gothic"/>
              </a:rPr>
              <a:t>・</a:t>
            </a:r>
            <a:r>
              <a:rPr sz="900" b="1" i="0">
                <a:solidFill>
                  <a:srgbClr val="1F3864"/>
                </a:solidFill>
                <a:latin typeface="Yu Gothic"/>
                <a:ea typeface="Yu Gothic"/>
              </a:rPr>
              <a:t>MANAGEMENT</a:t>
            </a:r>
          </a:p>
          <a:p>
            <a:pPr algn="r">
              <a:lnSpc>
                <a:spcPct val="115000"/>
              </a:lnSpc>
              <a:spcAft>
                <a:spcPts val="40"/>
              </a:spcAft>
            </a:pPr>
            <a:r>
              <a:rPr sz="700" b="0" i="0">
                <a:solidFill>
                  <a:srgbClr val="44546A"/>
                </a:solidFill>
                <a:latin typeface="Yu Gothic"/>
                <a:ea typeface="Yu Gothic"/>
              </a:rPr>
              <a:t>ORIX 事業投資部門 ご提案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885600"/>
            <a:ext cx="9900000" cy="32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6000" y="990000"/>
            <a:ext cx="1872000" cy="46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68000" y="990000"/>
            <a:ext cx="43200" cy="468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4000" y="1044000"/>
            <a:ext cx="1656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650" b="0" i="0">
                <a:solidFill>
                  <a:srgbClr val="C5CEDD"/>
                </a:solidFill>
                <a:latin typeface="Yu Gothic"/>
                <a:ea typeface="Yu Gothic"/>
              </a:rPr>
              <a:t>WHAT IT IS</a:t>
            </a:r>
          </a:p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1250" b="1" i="0">
                <a:solidFill>
                  <a:srgbClr val="FFFFFF"/>
                </a:solidFill>
                <a:latin typeface="Yu Gothic"/>
                <a:ea typeface="Yu Gothic"/>
              </a:rPr>
              <a:t>買い手M&amp;A特化AI</a:t>
            </a:r>
          </a:p>
        </p:txBody>
      </p:sp>
      <p:sp>
        <p:nvSpPr>
          <p:cNvPr id="9" name="Rectangle 8"/>
          <p:cNvSpPr/>
          <p:nvPr/>
        </p:nvSpPr>
        <p:spPr>
          <a:xfrm>
            <a:off x="2311200" y="990000"/>
            <a:ext cx="7984800" cy="46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37200" y="1044000"/>
            <a:ext cx="77328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"/>
              </a:spcAft>
            </a:pPr>
            <a:r>
              <a:rPr sz="840" b="0" i="0">
                <a:solidFill>
                  <a:srgbClr val="333333"/>
                </a:solidFill>
                <a:latin typeface="Yu Gothic"/>
                <a:ea typeface="Yu Gothic"/>
              </a:rPr>
              <a:t>代表 白子貴章が</a:t>
            </a:r>
            <a:r>
              <a:rPr sz="840" b="1" i="0">
                <a:solidFill>
                  <a:srgbClr val="1F3864"/>
                </a:solidFill>
                <a:latin typeface="Yu Gothic"/>
                <a:ea typeface="Yu Gothic"/>
              </a:rPr>
              <a:t>26年の当事者経験</a:t>
            </a:r>
            <a:r>
              <a:rPr sz="840" b="0" i="0">
                <a:solidFill>
                  <a:srgbClr val="333333"/>
                </a:solidFill>
                <a:latin typeface="Yu Gothic"/>
                <a:ea typeface="Yu Gothic"/>
              </a:rPr>
              <a:t>で体系化した判断基準をAIに実装（</a:t>
            </a:r>
            <a:r>
              <a:rPr sz="840" b="1" i="0">
                <a:solidFill>
                  <a:srgbClr val="1F3864"/>
                </a:solidFill>
                <a:latin typeface="Yu Gothic"/>
                <a:ea typeface="Yu Gothic"/>
              </a:rPr>
              <a:t>5カテゴリ・26モジュール</a:t>
            </a:r>
            <a:r>
              <a:rPr sz="840" b="0" i="0">
                <a:solidFill>
                  <a:srgbClr val="333333"/>
                </a:solidFill>
                <a:latin typeface="Yu Gothic"/>
                <a:ea typeface="Yu Gothic"/>
              </a:rPr>
              <a:t>、中核2機構は</a:t>
            </a:r>
            <a:r>
              <a:rPr sz="840" b="1" i="0">
                <a:solidFill>
                  <a:srgbClr val="1F3864"/>
                </a:solidFill>
                <a:latin typeface="Yu Gothic"/>
                <a:ea typeface="Yu Gothic"/>
              </a:rPr>
              <a:t>特許出願中</a:t>
            </a:r>
            <a:r>
              <a:rPr sz="840" b="0" i="0">
                <a:solidFill>
                  <a:srgbClr val="333333"/>
                </a:solidFill>
                <a:latin typeface="Yu Gothic"/>
                <a:ea typeface="Yu Gothic"/>
              </a:rPr>
              <a:t>）。EDINET等の一次情報に直結し、</a:t>
            </a:r>
            <a:r>
              <a:rPr sz="840" b="1" i="0">
                <a:solidFill>
                  <a:srgbClr val="1F3864"/>
                </a:solidFill>
                <a:latin typeface="Yu Gothic"/>
                <a:ea typeface="Yu Gothic"/>
              </a:rPr>
              <a:t>翌営業日</a:t>
            </a:r>
            <a:r>
              <a:rPr sz="840" b="0" i="0">
                <a:solidFill>
                  <a:srgbClr val="333333"/>
                </a:solidFill>
                <a:latin typeface="Yu Gothic"/>
                <a:ea typeface="Yu Gothic"/>
              </a:rPr>
              <a:t>で判断材料を構造化（判断系は代表レビュー）。</a:t>
            </a:r>
            <a:r>
              <a:rPr sz="840" b="1" i="0">
                <a:solidFill>
                  <a:srgbClr val="1F3864"/>
                </a:solidFill>
                <a:latin typeface="Yu Gothic"/>
                <a:ea typeface="Yu Gothic"/>
              </a:rPr>
              <a:t>人は最終判断に集中</a:t>
            </a:r>
            <a:r>
              <a:rPr sz="840" b="0" i="0">
                <a:solidFill>
                  <a:srgbClr val="333333"/>
                </a:solidFill>
                <a:latin typeface="Yu Gothic"/>
                <a:ea typeface="Yu Gothic"/>
              </a:rPr>
              <a:t>する。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000" y="1548000"/>
            <a:ext cx="3252000" cy="9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6000" y="1548000"/>
            <a:ext cx="3252000" cy="324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400" y="1620000"/>
            <a:ext cx="3079200" cy="84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"/>
              </a:spcAft>
            </a:pPr>
            <a:r>
              <a:rPr sz="840" b="1" i="0">
                <a:solidFill>
                  <a:srgbClr val="1F3864"/>
                </a:solidFill>
                <a:latin typeface="Yu Gothic"/>
                <a:ea typeface="Yu Gothic"/>
              </a:rPr>
              <a:t>中堅事業会社の経営企画</a:t>
            </a:r>
            <a:r>
              <a:rPr sz="640" b="0" i="0">
                <a:solidFill>
                  <a:srgbClr val="44546A"/>
                </a:solidFill>
                <a:latin typeface="Yu Gothic"/>
                <a:ea typeface="Yu Gothic"/>
              </a:rPr>
              <a:t>  M&amp;A兼務1〜3名・専任チームなし</a:t>
            </a:r>
          </a:p>
          <a:p>
            <a:pPr algn="l">
              <a:lnSpc>
                <a:spcPct val="122000"/>
              </a:lnSpc>
              <a:spcAft>
                <a:spcPts val="140"/>
              </a:spcAft>
            </a:pPr>
            <a:r>
              <a:rPr sz="640" b="1" i="0">
                <a:solidFill>
                  <a:srgbClr val="C00000"/>
                </a:solidFill>
                <a:latin typeface="Yu Gothic"/>
                <a:ea typeface="Yu Gothic"/>
              </a:rPr>
              <a:t>課題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  仲介からの持ち込みが続くが検討が属人化し、初期評価に1ヶ月。小型案件はFA費用が見合わず検討見送り。</a:t>
            </a:r>
          </a:p>
          <a:p>
            <a:pPr algn="l">
              <a:lnSpc>
                <a:spcPct val="122000"/>
              </a:lnSpc>
              <a:spcAft>
                <a:spcPts val="40"/>
              </a:spcAft>
            </a:pPr>
            <a:r>
              <a:rPr sz="640" b="1" i="0">
                <a:solidFill>
                  <a:srgbClr val="1F3864"/>
                </a:solidFill>
                <a:latin typeface="Yu Gothic"/>
                <a:ea typeface="Yu Gothic"/>
              </a:rPr>
              <a:t>解決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  </a:t>
            </a: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案件評価一式を翌営業日で構造化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。兼務でも回る検討体制になり、見送り判断も根拠つきで即答できる。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0000" y="1548000"/>
            <a:ext cx="3252000" cy="9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20000" y="1548000"/>
            <a:ext cx="3252000" cy="324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6400" y="1620000"/>
            <a:ext cx="3079200" cy="84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"/>
              </a:spcAft>
            </a:pPr>
            <a:r>
              <a:rPr sz="840" b="1" i="0">
                <a:solidFill>
                  <a:srgbClr val="1F3864"/>
                </a:solidFill>
                <a:latin typeface="Yu Gothic"/>
                <a:ea typeface="Yu Gothic"/>
              </a:rPr>
              <a:t>初めてM&amp;Aに取り組むオーナー企業・HD</a:t>
            </a:r>
            <a:r>
              <a:rPr sz="640" b="0" i="0">
                <a:solidFill>
                  <a:srgbClr val="44546A"/>
                </a:solidFill>
                <a:latin typeface="Yu Gothic"/>
                <a:ea typeface="Yu Gothic"/>
              </a:rPr>
              <a:t>  中計でM&amp;A成長を掲げた段階</a:t>
            </a:r>
          </a:p>
          <a:p>
            <a:pPr algn="l">
              <a:lnSpc>
                <a:spcPct val="122000"/>
              </a:lnSpc>
              <a:spcAft>
                <a:spcPts val="140"/>
              </a:spcAft>
            </a:pPr>
            <a:r>
              <a:rPr sz="640" b="1" i="0">
                <a:solidFill>
                  <a:srgbClr val="C00000"/>
                </a:solidFill>
                <a:latin typeface="Yu Gothic"/>
                <a:ea typeface="Yu Gothic"/>
              </a:rPr>
              <a:t>課題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  目的・投資枠・ターゲット要件が言語化されておらず、持ち込み案件に個別対応で振り回される。</a:t>
            </a:r>
          </a:p>
          <a:p>
            <a:pPr algn="l">
              <a:lnSpc>
                <a:spcPct val="122000"/>
              </a:lnSpc>
              <a:spcAft>
                <a:spcPts val="40"/>
              </a:spcAft>
            </a:pPr>
            <a:r>
              <a:rPr sz="640" b="1" i="0">
                <a:solidFill>
                  <a:srgbClr val="1F3864"/>
                </a:solidFill>
                <a:latin typeface="Yu Gothic"/>
                <a:ea typeface="Yu Gothic"/>
              </a:rPr>
              <a:t>解決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  </a:t>
            </a: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戦略策定エンジンが事業戦略から目的類型・投資枠・要件を逆算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。受け身の検討から能動的なソーシングへ。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4000" y="1548000"/>
            <a:ext cx="3252000" cy="9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4000" y="1548000"/>
            <a:ext cx="3252000" cy="324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0400" y="1620000"/>
            <a:ext cx="3079200" cy="84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"/>
              </a:spcAft>
            </a:pPr>
            <a:r>
              <a:rPr sz="840" b="1" i="0">
                <a:solidFill>
                  <a:srgbClr val="1F3864"/>
                </a:solidFill>
                <a:latin typeface="Yu Gothic"/>
                <a:ea typeface="Yu Gothic"/>
              </a:rPr>
              <a:t>投資会社・事業投資部門</a:t>
            </a:r>
            <a:r>
              <a:rPr sz="640" b="0" i="0">
                <a:solidFill>
                  <a:srgbClr val="44546A"/>
                </a:solidFill>
                <a:latin typeface="Yu Gothic"/>
                <a:ea typeface="Yu Gothic"/>
              </a:rPr>
              <a:t>  PE／CVC／ORIX 事業投資部門</a:t>
            </a:r>
          </a:p>
          <a:p>
            <a:pPr algn="l">
              <a:lnSpc>
                <a:spcPct val="122000"/>
              </a:lnSpc>
              <a:spcAft>
                <a:spcPts val="140"/>
              </a:spcAft>
            </a:pPr>
            <a:r>
              <a:rPr sz="640" b="1" i="0">
                <a:solidFill>
                  <a:srgbClr val="C00000"/>
                </a:solidFill>
                <a:latin typeface="Yu Gothic"/>
                <a:ea typeface="Yu Gothic"/>
              </a:rPr>
              <a:t>課題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  パイプラインは多いが、初期スクリーニングと投資後のKPIモニタリングに人手を取られ、深い検討に時間を割けない。</a:t>
            </a:r>
          </a:p>
          <a:p>
            <a:pPr algn="l">
              <a:lnSpc>
                <a:spcPct val="122000"/>
              </a:lnSpc>
              <a:spcAft>
                <a:spcPts val="40"/>
              </a:spcAft>
            </a:pPr>
            <a:r>
              <a:rPr sz="640" b="1" i="0">
                <a:solidFill>
                  <a:srgbClr val="1F3864"/>
                </a:solidFill>
                <a:latin typeface="Yu Gothic"/>
                <a:ea typeface="Yu Gothic"/>
              </a:rPr>
              <a:t>解決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  </a:t>
            </a: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11評価モジュール並列で一次評価を量産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し、PMI KPI監視で投資後管理を標準化。人は交渉・判断に集中。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" y="2610000"/>
            <a:ext cx="3788737" cy="234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00" y="2610000"/>
            <a:ext cx="3572737" cy="23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900" b="1" i="0">
                <a:solidFill>
                  <a:srgbClr val="FFFFFF"/>
                </a:solidFill>
                <a:latin typeface="Yu Gothic"/>
                <a:ea typeface="Yu Gothic"/>
              </a:rPr>
              <a:t>設計する</a:t>
            </a:r>
            <a:r>
              <a:rPr sz="640" b="0" i="0">
                <a:solidFill>
                  <a:srgbClr val="D5DCE8"/>
                </a:solidFill>
                <a:latin typeface="Yu Gothic"/>
                <a:ea typeface="Yu Gothic"/>
              </a:rPr>
              <a:t>  VISION &amp; DESIGN ｜ 戦略を生み、要件・体制を逆算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6737" y="2610000"/>
            <a:ext cx="3788737" cy="234000"/>
          </a:xfrm>
          <a:prstGeom prst="rect">
            <a:avLst/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4737" y="2610000"/>
            <a:ext cx="3572737" cy="23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900" b="1" i="0">
                <a:solidFill>
                  <a:srgbClr val="FFFFFF"/>
                </a:solidFill>
                <a:latin typeface="Yu Gothic"/>
                <a:ea typeface="Yu Gothic"/>
              </a:rPr>
              <a:t>見極める</a:t>
            </a:r>
            <a:r>
              <a:rPr sz="640" b="0" i="0">
                <a:solidFill>
                  <a:srgbClr val="D5DCE8"/>
                </a:solidFill>
                <a:latin typeface="Yu Gothic"/>
                <a:ea typeface="Yu Gothic"/>
              </a:rPr>
              <a:t>  DISCERNING ｜ 案件と条件を見極める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7475" y="2610000"/>
            <a:ext cx="2178524" cy="234000"/>
          </a:xfrm>
          <a:prstGeom prst="rect">
            <a:avLst/>
          </a:prstGeom>
          <a:solidFill>
            <a:srgbClr val="3B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5475" y="2610000"/>
            <a:ext cx="1962524" cy="23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900" b="1" i="0">
                <a:solidFill>
                  <a:srgbClr val="FFFFFF"/>
                </a:solidFill>
                <a:latin typeface="Yu Gothic"/>
                <a:ea typeface="Yu Gothic"/>
              </a:rPr>
              <a:t>経営する</a:t>
            </a:r>
            <a:r>
              <a:rPr sz="640" b="0" i="0">
                <a:solidFill>
                  <a:srgbClr val="D5DCE8"/>
                </a:solidFill>
                <a:latin typeface="Yu Gothic"/>
                <a:ea typeface="Yu Gothic"/>
              </a:rPr>
              <a:t>  MANAGEMENT ｜ 買収後を経営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6000" y="2916000"/>
            <a:ext cx="1887840" cy="295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6000" y="2916000"/>
            <a:ext cx="1887840" cy="32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6000" y="2948400"/>
            <a:ext cx="1887840" cy="55800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200" y="2995200"/>
            <a:ext cx="172944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"/>
              </a:spcAft>
            </a:pPr>
            <a:r>
              <a:rPr sz="660" b="1" i="0">
                <a:solidFill>
                  <a:srgbClr val="D4A017"/>
                </a:solidFill>
                <a:latin typeface="Yu Gothic"/>
                <a:ea typeface="Yu Gothic"/>
              </a:rPr>
              <a:t>① STRATEGY</a:t>
            </a:r>
          </a:p>
          <a:p>
            <a:pPr algn="l">
              <a:lnSpc>
                <a:spcPct val="115000"/>
              </a:lnSpc>
              <a:spcAft>
                <a:spcPts val="60"/>
              </a:spcAft>
            </a:pPr>
            <a:r>
              <a:rPr sz="950" b="1" i="0">
                <a:solidFill>
                  <a:srgbClr val="1F3864"/>
                </a:solidFill>
                <a:latin typeface="Yu Gothic"/>
                <a:ea typeface="Yu Gothic"/>
              </a:rPr>
              <a:t>戦略策定</a:t>
            </a:r>
          </a:p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620" b="0" i="0">
                <a:solidFill>
                  <a:srgbClr val="44546A"/>
                </a:solidFill>
                <a:latin typeface="Yu Gothic"/>
                <a:ea typeface="Yu Gothic"/>
              </a:rPr>
              <a:t>事業戦略からM&amp;A戦略を導出・投資枠を逆算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200" y="3578400"/>
            <a:ext cx="1729440" cy="181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"/>
              </a:spcAft>
            </a:pPr>
            <a:r>
              <a:rPr sz="610" b="1" i="0">
                <a:solidFill>
                  <a:srgbClr val="D4A017"/>
                </a:solidFill>
                <a:latin typeface="Yu Gothic"/>
                <a:ea typeface="Yu Gothic"/>
              </a:rPr>
              <a:t>利用シーン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10" b="0" i="0">
                <a:solidFill>
                  <a:srgbClr val="44546A"/>
                </a:solidFill>
                <a:latin typeface="Yu Gothic"/>
                <a:ea typeface="Yu Gothic"/>
              </a:rPr>
              <a:t>中計にM&amp;Aを掲げたが、目的・投資枠・ターゲット要件が言語化できていない</a:t>
            </a: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sz="630" b="1" i="0">
                <a:solidFill>
                  <a:srgbClr val="1F3864"/>
                </a:solidFill>
                <a:latin typeface="Yu Gothic"/>
                <a:ea typeface="Yu Gothic"/>
              </a:rPr>
              <a:t>主なモジュール</a:t>
            </a:r>
          </a:p>
          <a:p>
            <a:pPr algn="l">
              <a:lnSpc>
                <a:spcPct val="120000"/>
              </a:lnSpc>
              <a:spcAft>
                <a:spcPts val="70"/>
              </a:spcAft>
            </a:pP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・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戦略策定エンジン（3分岐×6ステップ）</a:t>
            </a:r>
          </a:p>
          <a:p>
            <a:pPr algn="l">
              <a:lnSpc>
                <a:spcPct val="120000"/>
              </a:lnSpc>
              <a:spcAft>
                <a:spcPts val="70"/>
              </a:spcAft>
            </a:pP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・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Series 5 投資枠算定</a:t>
            </a:r>
          </a:p>
          <a:p>
            <a:pPr algn="l">
              <a:lnSpc>
                <a:spcPct val="120000"/>
              </a:lnSpc>
              <a:spcAft>
                <a:spcPts val="70"/>
              </a:spcAft>
            </a:pP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・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EDINETスクリーニング／戦略フィットスコア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3600" y="5360400"/>
            <a:ext cx="1772639" cy="45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000" y="5396400"/>
            <a:ext cx="167184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"/>
              </a:spcAft>
            </a:pPr>
            <a:r>
              <a:rPr sz="650" b="1" i="0">
                <a:solidFill>
                  <a:srgbClr val="1F3864"/>
                </a:solidFill>
                <a:latin typeface="Yu Gothic"/>
                <a:ea typeface="Yu Gothic"/>
              </a:rPr>
              <a:t>出力</a:t>
            </a:r>
            <a:r>
              <a:rPr sz="650" b="0" i="0">
                <a:solidFill>
                  <a:srgbClr val="44546A"/>
                </a:solidFill>
                <a:latin typeface="Yu Gothic"/>
                <a:ea typeface="Yu Gothic"/>
              </a:rPr>
              <a:t>｜M&amp;A戦略ナラティブレポート（Word）／投資枠算定モデル（Excel）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69440" y="4248000"/>
            <a:ext cx="162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"/>
              </a:spcAft>
            </a:pPr>
            <a:r>
              <a:rPr sz="1200" b="1" i="0">
                <a:solidFill>
                  <a:srgbClr val="D4A017"/>
                </a:solidFill>
                <a:latin typeface="Yu Gothic"/>
                <a:ea typeface="Yu Gothic"/>
              </a:rPr>
              <a:t>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9040" y="2916000"/>
            <a:ext cx="1887840" cy="295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9040" y="2916000"/>
            <a:ext cx="1887840" cy="32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99040" y="2948400"/>
            <a:ext cx="1887840" cy="55800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78240" y="2995200"/>
            <a:ext cx="172944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"/>
              </a:spcAft>
            </a:pPr>
            <a:r>
              <a:rPr sz="660" b="1" i="0">
                <a:solidFill>
                  <a:srgbClr val="D4A017"/>
                </a:solidFill>
                <a:latin typeface="Yu Gothic"/>
                <a:ea typeface="Yu Gothic"/>
              </a:rPr>
              <a:t>② SOURCING</a:t>
            </a:r>
          </a:p>
          <a:p>
            <a:pPr algn="l">
              <a:lnSpc>
                <a:spcPct val="115000"/>
              </a:lnSpc>
              <a:spcAft>
                <a:spcPts val="60"/>
              </a:spcAft>
            </a:pPr>
            <a:r>
              <a:rPr sz="950" b="1" i="0">
                <a:solidFill>
                  <a:srgbClr val="1F3864"/>
                </a:solidFill>
                <a:latin typeface="Yu Gothic"/>
                <a:ea typeface="Yu Gothic"/>
              </a:rPr>
              <a:t>ソーシング</a:t>
            </a:r>
          </a:p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620" b="0" i="0">
                <a:solidFill>
                  <a:srgbClr val="44546A"/>
                </a:solidFill>
                <a:latin typeface="Yu Gothic"/>
                <a:ea typeface="Yu Gothic"/>
              </a:rPr>
              <a:t>候補を網羅発掘しスコアで絞り込む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78240" y="3578400"/>
            <a:ext cx="1729440" cy="181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"/>
              </a:spcAft>
            </a:pPr>
            <a:r>
              <a:rPr sz="610" b="1" i="0">
                <a:solidFill>
                  <a:srgbClr val="D4A017"/>
                </a:solidFill>
                <a:latin typeface="Yu Gothic"/>
                <a:ea typeface="Yu Gothic"/>
              </a:rPr>
              <a:t>利用シーン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10" b="0" i="0">
                <a:solidFill>
                  <a:srgbClr val="44546A"/>
                </a:solidFill>
                <a:latin typeface="Yu Gothic"/>
                <a:ea typeface="Yu Gothic"/>
              </a:rPr>
              <a:t>候補が仲介持ち込み頼み。要件に合う相手を能動的に探せていない</a:t>
            </a: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sz="630" b="1" i="0">
                <a:solidFill>
                  <a:srgbClr val="1F3864"/>
                </a:solidFill>
                <a:latin typeface="Yu Gothic"/>
                <a:ea typeface="Yu Gothic"/>
              </a:rPr>
              <a:t>主なモジュール</a:t>
            </a:r>
          </a:p>
          <a:p>
            <a:pPr algn="l">
              <a:lnSpc>
                <a:spcPct val="120000"/>
              </a:lnSpc>
              <a:spcAft>
                <a:spcPts val="70"/>
              </a:spcAft>
            </a:pP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・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ロングリスト発掘（Web×gBizINFO）</a:t>
            </a:r>
          </a:p>
          <a:p>
            <a:pPr algn="l">
              <a:lnSpc>
                <a:spcPct val="120000"/>
              </a:lnSpc>
              <a:spcAft>
                <a:spcPts val="70"/>
              </a:spcAft>
            </a:pP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・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ショートリスト化（発生確度×シナジー）</a:t>
            </a:r>
          </a:p>
          <a:p>
            <a:pPr algn="l">
              <a:lnSpc>
                <a:spcPct val="120000"/>
              </a:lnSpc>
              <a:spcAft>
                <a:spcPts val="70"/>
              </a:spcAft>
            </a:pP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・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3段階ターゲット統合・名寄せ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56640" y="5360400"/>
            <a:ext cx="1772639" cy="45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07040" y="5396400"/>
            <a:ext cx="167184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"/>
              </a:spcAft>
            </a:pPr>
            <a:r>
              <a:rPr sz="650" b="1" i="0">
                <a:solidFill>
                  <a:srgbClr val="1F3864"/>
                </a:solidFill>
                <a:latin typeface="Yu Gothic"/>
                <a:ea typeface="Yu Gothic"/>
              </a:rPr>
              <a:t>出力</a:t>
            </a:r>
            <a:r>
              <a:rPr sz="650" b="0" i="0">
                <a:solidFill>
                  <a:srgbClr val="44546A"/>
                </a:solidFill>
                <a:latin typeface="Yu Gothic"/>
                <a:ea typeface="Yu Gothic"/>
              </a:rPr>
              <a:t>｜ロングリスト／ショートリスト（4象限マップ付）／統合マスターリスト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72480" y="4248000"/>
            <a:ext cx="162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"/>
              </a:spcAft>
            </a:pPr>
            <a:r>
              <a:rPr sz="1200" b="1" i="0">
                <a:solidFill>
                  <a:srgbClr val="D4A017"/>
                </a:solidFill>
                <a:latin typeface="Yu Gothic"/>
                <a:ea typeface="Yu Gothic"/>
              </a:rPr>
              <a:t>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02080" y="2916000"/>
            <a:ext cx="1887840" cy="295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02080" y="2916000"/>
            <a:ext cx="1887840" cy="32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02080" y="2948400"/>
            <a:ext cx="1887840" cy="55800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1280" y="2995200"/>
            <a:ext cx="172944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"/>
              </a:spcAft>
            </a:pPr>
            <a:r>
              <a:rPr sz="660" b="1" i="0">
                <a:solidFill>
                  <a:srgbClr val="D4A017"/>
                </a:solidFill>
                <a:latin typeface="Yu Gothic"/>
                <a:ea typeface="Yu Gothic"/>
              </a:rPr>
              <a:t>③ DEAL ASSESSMENT</a:t>
            </a:r>
          </a:p>
          <a:p>
            <a:pPr algn="l">
              <a:lnSpc>
                <a:spcPct val="115000"/>
              </a:lnSpc>
              <a:spcAft>
                <a:spcPts val="60"/>
              </a:spcAft>
            </a:pPr>
            <a:r>
              <a:rPr sz="950" b="1" i="0">
                <a:solidFill>
                  <a:srgbClr val="1F3864"/>
                </a:solidFill>
                <a:latin typeface="Yu Gothic"/>
                <a:ea typeface="Yu Gothic"/>
              </a:rPr>
              <a:t>案件評価</a:t>
            </a:r>
          </a:p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620" b="0" i="0">
                <a:solidFill>
                  <a:srgbClr val="44546A"/>
                </a:solidFill>
                <a:latin typeface="Yu Gothic"/>
                <a:ea typeface="Yu Gothic"/>
              </a:rPr>
              <a:t>多面評価で投資判断材料を構造化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1280" y="3578400"/>
            <a:ext cx="1729440" cy="181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"/>
              </a:spcAft>
            </a:pPr>
            <a:r>
              <a:rPr sz="610" b="1" i="0">
                <a:solidFill>
                  <a:srgbClr val="D4A017"/>
                </a:solidFill>
                <a:latin typeface="Yu Gothic"/>
                <a:ea typeface="Yu Gothic"/>
              </a:rPr>
              <a:t>利用シーン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10" b="0" i="0">
                <a:solidFill>
                  <a:srgbClr val="44546A"/>
                </a:solidFill>
                <a:latin typeface="Yu Gothic"/>
                <a:ea typeface="Yu Gothic"/>
              </a:rPr>
              <a:t>IMが持ち込まれ、短期間で一次回答が必要。だが専任チームがいない</a:t>
            </a: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sz="630" b="1" i="0">
                <a:solidFill>
                  <a:srgbClr val="1F3864"/>
                </a:solidFill>
                <a:latin typeface="Yu Gothic"/>
                <a:ea typeface="Yu Gothic"/>
              </a:rPr>
              <a:t>主なモジュール</a:t>
            </a:r>
          </a:p>
          <a:p>
            <a:pPr algn="l">
              <a:lnSpc>
                <a:spcPct val="120000"/>
              </a:lnSpc>
              <a:spcAft>
                <a:spcPts val="70"/>
              </a:spcAft>
            </a:pP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・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ディール評価オーケストレーター（4ステップ）</a:t>
            </a:r>
          </a:p>
          <a:p>
            <a:pPr algn="l">
              <a:lnSpc>
                <a:spcPct val="120000"/>
              </a:lnSpc>
              <a:spcAft>
                <a:spcPts val="70"/>
              </a:spcAft>
            </a:pP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・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11評価モジュール並列（事業/市場/競争/財務/シナジー/リスク…）</a:t>
            </a:r>
          </a:p>
          <a:p>
            <a:pPr algn="l">
              <a:lnSpc>
                <a:spcPct val="120000"/>
              </a:lnSpc>
              <a:spcAft>
                <a:spcPts val="70"/>
              </a:spcAft>
            </a:pP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・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バリュエーション／4シナリオProjection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59680" y="5360400"/>
            <a:ext cx="1772639" cy="45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10080" y="5396400"/>
            <a:ext cx="167184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"/>
              </a:spcAft>
            </a:pPr>
            <a:r>
              <a:rPr sz="650" b="1" i="0">
                <a:solidFill>
                  <a:srgbClr val="1F3864"/>
                </a:solidFill>
                <a:latin typeface="Yu Gothic"/>
                <a:ea typeface="Yu Gothic"/>
              </a:rPr>
              <a:t>出力</a:t>
            </a:r>
            <a:r>
              <a:rPr sz="650" b="0" i="0">
                <a:solidFill>
                  <a:srgbClr val="44546A"/>
                </a:solidFill>
                <a:latin typeface="Yu Gothic"/>
                <a:ea typeface="Yu Gothic"/>
              </a:rPr>
              <a:t>｜統合Excelモデル／IC統合評価レポート（Word）／IC資料（PPTX）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75520" y="4248000"/>
            <a:ext cx="162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"/>
              </a:spcAft>
            </a:pPr>
            <a:r>
              <a:rPr sz="1200" b="1" i="0">
                <a:solidFill>
                  <a:srgbClr val="D4A017"/>
                </a:solidFill>
                <a:latin typeface="Yu Gothic"/>
                <a:ea typeface="Yu Gothic"/>
              </a:rPr>
              <a:t>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5120" y="2916000"/>
            <a:ext cx="1887840" cy="295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5120" y="2916000"/>
            <a:ext cx="1887840" cy="32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5120" y="2948400"/>
            <a:ext cx="1887840" cy="55800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84320" y="2995200"/>
            <a:ext cx="172944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"/>
              </a:spcAft>
            </a:pPr>
            <a:r>
              <a:rPr sz="660" b="1" i="0">
                <a:solidFill>
                  <a:srgbClr val="D4A017"/>
                </a:solidFill>
                <a:latin typeface="Yu Gothic"/>
                <a:ea typeface="Yu Gothic"/>
              </a:rPr>
              <a:t>④ DD・NEGOTIATION・DECISION</a:t>
            </a:r>
          </a:p>
          <a:p>
            <a:pPr algn="l">
              <a:lnSpc>
                <a:spcPct val="115000"/>
              </a:lnSpc>
              <a:spcAft>
                <a:spcPts val="60"/>
              </a:spcAft>
            </a:pPr>
            <a:r>
              <a:rPr sz="950" b="1" i="0">
                <a:solidFill>
                  <a:srgbClr val="1F3864"/>
                </a:solidFill>
                <a:latin typeface="Yu Gothic"/>
                <a:ea typeface="Yu Gothic"/>
              </a:rPr>
              <a:t>DD・交渉・意思決定</a:t>
            </a:r>
          </a:p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620" b="0" i="0">
                <a:solidFill>
                  <a:srgbClr val="44546A"/>
                </a:solidFill>
                <a:latin typeface="Yu Gothic"/>
                <a:ea typeface="Yu Gothic"/>
              </a:rPr>
              <a:t>DD設計〜SPA条件〜クロージング管理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84320" y="3578400"/>
            <a:ext cx="1729440" cy="181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"/>
              </a:spcAft>
            </a:pPr>
            <a:r>
              <a:rPr sz="610" b="1" i="0">
                <a:solidFill>
                  <a:srgbClr val="D4A017"/>
                </a:solidFill>
                <a:latin typeface="Yu Gothic"/>
                <a:ea typeface="Yu Gothic"/>
              </a:rPr>
              <a:t>利用シーン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10" b="0" i="0">
                <a:solidFill>
                  <a:srgbClr val="44546A"/>
                </a:solidFill>
                <a:latin typeface="Yu Gothic"/>
                <a:ea typeface="Yu Gothic"/>
              </a:rPr>
              <a:t>DD報告書が分厚く、横断論点とSPA交渉材料を整理しきれない</a:t>
            </a: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sz="630" b="1" i="0">
                <a:solidFill>
                  <a:srgbClr val="1F3864"/>
                </a:solidFill>
                <a:latin typeface="Yu Gothic"/>
                <a:ea typeface="Yu Gothic"/>
              </a:rPr>
              <a:t>主なモジュール（3層）</a:t>
            </a:r>
          </a:p>
          <a:p>
            <a:pPr algn="l">
              <a:lnSpc>
                <a:spcPct val="120000"/>
              </a:lnSpc>
              <a:spcAft>
                <a:spcPts val="70"/>
              </a:spcAft>
            </a:pP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・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DD準備（スコープ／QA・資料依頼シート）</a:t>
            </a:r>
          </a:p>
          <a:p>
            <a:pPr algn="l">
              <a:lnSpc>
                <a:spcPct val="120000"/>
              </a:lnSpc>
              <a:spcAft>
                <a:spcPts val="70"/>
              </a:spcAft>
            </a:pP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・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DD統合分析（Findings統合／論点抽出）</a:t>
            </a:r>
          </a:p>
          <a:p>
            <a:pPr algn="l">
              <a:lnSpc>
                <a:spcPct val="120000"/>
              </a:lnSpc>
              <a:spcAft>
                <a:spcPts val="70"/>
              </a:spcAft>
            </a:pP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・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意思決定・クロージング（取締役会起案／SPA）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62720" y="5360400"/>
            <a:ext cx="1772639" cy="45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13120" y="5396400"/>
            <a:ext cx="167184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"/>
              </a:spcAft>
            </a:pPr>
            <a:r>
              <a:rPr sz="650" b="1" i="0">
                <a:solidFill>
                  <a:srgbClr val="1F3864"/>
                </a:solidFill>
                <a:latin typeface="Yu Gothic"/>
                <a:ea typeface="Yu Gothic"/>
              </a:rPr>
              <a:t>出力</a:t>
            </a:r>
            <a:r>
              <a:rPr sz="650" b="0" i="0">
                <a:solidFill>
                  <a:srgbClr val="44546A"/>
                </a:solidFill>
                <a:latin typeface="Yu Gothic"/>
                <a:ea typeface="Yu Gothic"/>
              </a:rPr>
              <a:t>｜DD Findings統合一覧／取締役会起案資料／SPA主要条件整理表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8560" y="4248000"/>
            <a:ext cx="162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"/>
              </a:spcAft>
            </a:pPr>
            <a:r>
              <a:rPr sz="1200" b="1" i="0">
                <a:solidFill>
                  <a:srgbClr val="D4A017"/>
                </a:solidFill>
                <a:latin typeface="Yu Gothic"/>
                <a:ea typeface="Yu Gothic"/>
              </a:rPr>
              <a:t>›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08160" y="2916000"/>
            <a:ext cx="1887840" cy="295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408160" y="2916000"/>
            <a:ext cx="1887840" cy="32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08160" y="2948400"/>
            <a:ext cx="1887840" cy="55800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87360" y="2995200"/>
            <a:ext cx="172944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"/>
              </a:spcAft>
            </a:pPr>
            <a:r>
              <a:rPr sz="660" b="1" i="0">
                <a:solidFill>
                  <a:srgbClr val="D4A017"/>
                </a:solidFill>
                <a:latin typeface="Yu Gothic"/>
                <a:ea typeface="Yu Gothic"/>
              </a:rPr>
              <a:t>⑤ PMI</a:t>
            </a:r>
          </a:p>
          <a:p>
            <a:pPr algn="l">
              <a:lnSpc>
                <a:spcPct val="115000"/>
              </a:lnSpc>
              <a:spcAft>
                <a:spcPts val="60"/>
              </a:spcAft>
            </a:pPr>
            <a:r>
              <a:rPr sz="950" b="1" i="0">
                <a:solidFill>
                  <a:srgbClr val="1F3864"/>
                </a:solidFill>
                <a:latin typeface="Yu Gothic"/>
                <a:ea typeface="Yu Gothic"/>
              </a:rPr>
              <a:t>PMI</a:t>
            </a:r>
          </a:p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620" b="0" i="0">
                <a:solidFill>
                  <a:srgbClr val="44546A"/>
                </a:solidFill>
                <a:latin typeface="Yu Gothic"/>
                <a:ea typeface="Yu Gothic"/>
              </a:rPr>
              <a:t>買収後の統合を体系的に支援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87360" y="3578400"/>
            <a:ext cx="1729440" cy="181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"/>
              </a:spcAft>
            </a:pPr>
            <a:r>
              <a:rPr sz="610" b="1" i="0">
                <a:solidFill>
                  <a:srgbClr val="D4A017"/>
                </a:solidFill>
                <a:latin typeface="Yu Gothic"/>
                <a:ea typeface="Yu Gothic"/>
              </a:rPr>
              <a:t>利用シーン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10" b="0" i="0">
                <a:solidFill>
                  <a:srgbClr val="44546A"/>
                </a:solidFill>
                <a:latin typeface="Yu Gothic"/>
                <a:ea typeface="Yu Gothic"/>
              </a:rPr>
              <a:t>買収後のKPI管理・100日プランが属人化し、統合が計画倒れに</a:t>
            </a: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sz="630" b="1" i="0">
                <a:solidFill>
                  <a:srgbClr val="1F3864"/>
                </a:solidFill>
                <a:latin typeface="Yu Gothic"/>
                <a:ea typeface="Yu Gothic"/>
              </a:rPr>
              <a:t>主なモジュール</a:t>
            </a:r>
          </a:p>
          <a:p>
            <a:pPr algn="l">
              <a:lnSpc>
                <a:spcPct val="120000"/>
              </a:lnSpc>
              <a:spcAft>
                <a:spcPts val="70"/>
              </a:spcAft>
            </a:pP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・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ガバナンス層定義</a:t>
            </a:r>
          </a:p>
          <a:p>
            <a:pPr algn="l">
              <a:lnSpc>
                <a:spcPct val="120000"/>
              </a:lnSpc>
              <a:spcAft>
                <a:spcPts val="70"/>
              </a:spcAft>
            </a:pP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・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月次KPIモニタリング（業種別プリセット）</a:t>
            </a:r>
          </a:p>
          <a:p>
            <a:pPr algn="l">
              <a:lnSpc>
                <a:spcPct val="120000"/>
              </a:lnSpc>
              <a:spcAft>
                <a:spcPts val="70"/>
              </a:spcAft>
            </a:pP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・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100日プラン生成／Earn-out横断ビュー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65760" y="5360400"/>
            <a:ext cx="1772639" cy="45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16160" y="5396400"/>
            <a:ext cx="167184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"/>
              </a:spcAft>
            </a:pPr>
            <a:r>
              <a:rPr sz="650" b="1" i="0">
                <a:solidFill>
                  <a:srgbClr val="1F3864"/>
                </a:solidFill>
                <a:latin typeface="Yu Gothic"/>
                <a:ea typeface="Yu Gothic"/>
              </a:rPr>
              <a:t>出力</a:t>
            </a:r>
            <a:r>
              <a:rPr sz="650" b="0" i="0">
                <a:solidFill>
                  <a:srgbClr val="44546A"/>
                </a:solidFill>
                <a:latin typeface="Yu Gothic"/>
                <a:ea typeface="Yu Gothic"/>
              </a:rPr>
              <a:t>｜100日プラン（Excel）／月次KPI管理表／PMI計画書（Word）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6000" y="5976000"/>
            <a:ext cx="4181142" cy="59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2400" y="6033600"/>
            <a:ext cx="4008342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640" b="1" i="0">
                <a:solidFill>
                  <a:srgbClr val="D4A017"/>
                </a:solidFill>
                <a:latin typeface="Yu Gothic"/>
                <a:ea typeface="Yu Gothic"/>
              </a:rPr>
              <a:t>横断機能 ｜ 全カテゴリを下支え</a:t>
            </a:r>
          </a:p>
          <a:p>
            <a:pPr algn="l">
              <a:lnSpc>
                <a:spcPct val="125000"/>
              </a:lnSpc>
              <a:spcAft>
                <a:spcPts val="40"/>
              </a:spcAft>
            </a:pP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データ検証モジュール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：独立コンテキストで再取得・算式再計算・レンジチェック（作成者と監査人の分離）。</a:t>
            </a: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マルチエージェント討議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：業界／バイサイド／売り手視点の並列討議で仮説検証。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49142" y="5976000"/>
            <a:ext cx="2787428" cy="59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35542" y="6033600"/>
            <a:ext cx="2614628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640" b="1" i="0">
                <a:solidFill>
                  <a:srgbClr val="D4A017"/>
                </a:solidFill>
                <a:latin typeface="Yu Gothic"/>
                <a:ea typeface="Yu Gothic"/>
              </a:rPr>
              <a:t>設計原則</a:t>
            </a:r>
          </a:p>
          <a:p>
            <a:pPr algn="l">
              <a:lnSpc>
                <a:spcPct val="125000"/>
              </a:lnSpc>
              <a:spcAft>
                <a:spcPts val="40"/>
              </a:spcAft>
            </a:pP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頭はメイン、手足はサブエージェント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。判断・洞察・統合はメインが担い、データ取得・並列分析・独立検証を委任。一貫性とスピードを両立。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08571" y="5976000"/>
            <a:ext cx="2787428" cy="594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94971" y="6033600"/>
            <a:ext cx="2614628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640" b="1" i="0">
                <a:solidFill>
                  <a:srgbClr val="D4A017"/>
                </a:solidFill>
                <a:latin typeface="Yu Gothic"/>
                <a:ea typeface="Yu Gothic"/>
              </a:rPr>
              <a:t>従来との違い</a:t>
            </a:r>
          </a:p>
          <a:p>
            <a:pPr algn="l">
              <a:lnSpc>
                <a:spcPct val="125000"/>
              </a:lnSpc>
              <a:spcAft>
                <a:spcPts val="40"/>
              </a:spcAft>
            </a:pP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工程間の判断を</a:t>
            </a: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自動継承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し組織に蓄積。属人化を排し</a:t>
            </a: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再現可能な組織知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へ。仲介・FAを代替せず、買い手</a:t>
            </a: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内側の検討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を支える。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6000" y="6660000"/>
            <a:ext cx="9900000" cy="1260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6000" y="6714000"/>
            <a:ext cx="99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"/>
              </a:spcAft>
            </a:pPr>
            <a:r>
              <a:rPr sz="660" b="0" i="0">
                <a:solidFill>
                  <a:srgbClr val="44546A"/>
                </a:solidFill>
                <a:latin typeface="Yu Gothic"/>
                <a:ea typeface="Yu Gothic"/>
              </a:rPr>
              <a:t>※ M&amp;A Architect は意思決定を自動化するものではなく、人間を主担当として判断材料の構造化と再現性を提供する。10論点はすべて人間が主担当（うちAI支援9論点、「推進検討体制」のみ対象外）。実装フレームワーク：M&amp;A戦略3層構造／目的6類型／成功の10論点／失敗3タイプ ほか。案件情報はNDAのもと顧客ごとに論理分離・AI学習に不使用。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6000" y="7182000"/>
            <a:ext cx="9900000" cy="16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6000" y="7236000"/>
            <a:ext cx="72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700" b="0" i="0">
                <a:solidFill>
                  <a:srgbClr val="44546A"/>
                </a:solidFill>
                <a:latin typeface="Yu Gothic"/>
                <a:ea typeface="Yu Gothic"/>
              </a:rPr>
              <a:t>M&amp;A Architect ／ 買い手のM&amp;A機能を、設計する独自AIシステム（Invitation-only Beta・特許出願中）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76000" y="7236000"/>
            <a:ext cx="25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"/>
              </a:spcAft>
            </a:pPr>
            <a:r>
              <a:rPr sz="700" b="0" i="0">
                <a:solidFill>
                  <a:srgbClr val="44546A"/>
                </a:solidFill>
                <a:latin typeface="Yu Gothic"/>
                <a:ea typeface="Yu Gothic"/>
              </a:rPr>
              <a:t>© 2026 Design Management LLC　　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0" y="162000"/>
            <a:ext cx="3096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"/>
              </a:spcAft>
            </a:pPr>
            <a:r>
              <a:rPr sz="700" b="1" i="0">
                <a:solidFill>
                  <a:srgbClr val="C00000"/>
                </a:solidFill>
                <a:latin typeface="Yu Gothic"/>
                <a:ea typeface="Yu Gothic"/>
              </a:rPr>
              <a:t>Strictly Confidential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000" y="360000"/>
            <a:ext cx="72000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550" b="1" i="0">
                <a:solidFill>
                  <a:srgbClr val="1F3864"/>
                </a:solidFill>
                <a:latin typeface="Yu Gothic"/>
                <a:ea typeface="Yu Gothic"/>
              </a:rPr>
              <a:t>M&amp;A Architect サービス料金体系</a:t>
            </a:r>
            <a:r>
              <a:rPr sz="1550" b="1" i="0">
                <a:solidFill>
                  <a:srgbClr val="C00000"/>
                </a:solidFill>
                <a:latin typeface="Yu Gothic"/>
                <a:ea typeface="Yu Gothic"/>
              </a:rPr>
              <a:t>（仮）</a:t>
            </a:r>
            <a:r>
              <a:rPr sz="1050" b="1" i="0">
                <a:solidFill>
                  <a:srgbClr val="44546A"/>
                </a:solidFill>
                <a:latin typeface="Yu Gothic"/>
                <a:ea typeface="Yu Gothic"/>
              </a:rPr>
              <a:t>  ／ Service Pricing (Draft)</a:t>
            </a:r>
          </a:p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800" b="0" i="0">
                <a:solidFill>
                  <a:srgbClr val="44546A"/>
                </a:solidFill>
                <a:latin typeface="Yu Gothic"/>
                <a:ea typeface="Yu Gothic"/>
              </a:rPr>
              <a:t>全プラン共通の売り＝</a:t>
            </a:r>
            <a:r>
              <a:rPr sz="800" b="1" i="0">
                <a:solidFill>
                  <a:srgbClr val="333333"/>
                </a:solidFill>
                <a:latin typeface="Yu Gothic"/>
                <a:ea typeface="Yu Gothic"/>
              </a:rPr>
              <a:t>「早くて、質が良い」</a:t>
            </a:r>
            <a:r>
              <a:rPr sz="800" b="0" i="0">
                <a:solidFill>
                  <a:srgbClr val="44546A"/>
                </a:solidFill>
                <a:latin typeface="Yu Gothic"/>
                <a:ea typeface="Yu Gothic"/>
              </a:rPr>
              <a:t>（判断系は必ず代表レビュー）。差別化は</a:t>
            </a:r>
            <a:r>
              <a:rPr sz="800" b="1" i="0">
                <a:solidFill>
                  <a:srgbClr val="333333"/>
                </a:solidFill>
                <a:latin typeface="Yu Gothic"/>
                <a:ea typeface="Yu Gothic"/>
              </a:rPr>
              <a:t>範囲</a:t>
            </a:r>
            <a:r>
              <a:rPr sz="800" b="0" i="0">
                <a:solidFill>
                  <a:srgbClr val="44546A"/>
                </a:solidFill>
                <a:latin typeface="Yu Gothic"/>
                <a:ea typeface="Yu Gothic"/>
              </a:rPr>
              <a:t>と</a:t>
            </a:r>
            <a:r>
              <a:rPr sz="800" b="1" i="0">
                <a:solidFill>
                  <a:srgbClr val="333333"/>
                </a:solidFill>
                <a:latin typeface="Yu Gothic"/>
                <a:ea typeface="Yu Gothic"/>
              </a:rPr>
              <a:t>案件数</a:t>
            </a:r>
            <a:r>
              <a:rPr sz="800" b="0" i="0">
                <a:solidFill>
                  <a:srgbClr val="44546A"/>
                </a:solidFill>
                <a:latin typeface="Yu Gothic"/>
                <a:ea typeface="Yu Gothic"/>
              </a:rPr>
              <a:t>。</a:t>
            </a:r>
            <a:r>
              <a:rPr sz="800" b="1" i="0">
                <a:solidFill>
                  <a:srgbClr val="C00000"/>
                </a:solidFill>
                <a:latin typeface="Yu Gothic"/>
                <a:ea typeface="Yu Gothic"/>
              </a:rPr>
              <a:t>※本紙は仮案・最終条件は個別協議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0" y="360000"/>
            <a:ext cx="3096000" cy="468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900" b="1" i="0">
                <a:solidFill>
                  <a:srgbClr val="1F3864"/>
                </a:solidFill>
                <a:latin typeface="Yu Gothic"/>
                <a:ea typeface="Yu Gothic"/>
              </a:rPr>
              <a:t>DESIGN</a:t>
            </a:r>
            <a:r>
              <a:rPr sz="900" b="1" i="0">
                <a:solidFill>
                  <a:srgbClr val="D4A017"/>
                </a:solidFill>
                <a:latin typeface="Yu Gothic"/>
                <a:ea typeface="Yu Gothic"/>
              </a:rPr>
              <a:t>・</a:t>
            </a:r>
            <a:r>
              <a:rPr sz="900" b="1" i="0">
                <a:solidFill>
                  <a:srgbClr val="1F3864"/>
                </a:solidFill>
                <a:latin typeface="Yu Gothic"/>
                <a:ea typeface="Yu Gothic"/>
              </a:rPr>
              <a:t>MANAGEMENT</a:t>
            </a:r>
          </a:p>
          <a:p>
            <a:pPr algn="r">
              <a:lnSpc>
                <a:spcPct val="115000"/>
              </a:lnSpc>
              <a:spcAft>
                <a:spcPts val="40"/>
              </a:spcAft>
            </a:pPr>
            <a:r>
              <a:rPr sz="700" b="0" i="0">
                <a:solidFill>
                  <a:srgbClr val="44546A"/>
                </a:solidFill>
                <a:latin typeface="Yu Gothic"/>
                <a:ea typeface="Yu Gothic"/>
              </a:rPr>
              <a:t>ORIX 事業投資部門 ご提案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885600"/>
            <a:ext cx="9900000" cy="32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6000" y="990000"/>
            <a:ext cx="1872000" cy="46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68000" y="990000"/>
            <a:ext cx="43200" cy="468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4000" y="1044000"/>
            <a:ext cx="1656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650" b="0" i="0">
                <a:solidFill>
                  <a:srgbClr val="C5CEDD"/>
                </a:solidFill>
                <a:latin typeface="Yu Gothic"/>
                <a:ea typeface="Yu Gothic"/>
              </a:rPr>
              <a:t>PRICING MODEL</a:t>
            </a:r>
          </a:p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1250" b="1" i="0">
                <a:solidFill>
                  <a:srgbClr val="FFFFFF"/>
                </a:solidFill>
                <a:latin typeface="Yu Gothic"/>
                <a:ea typeface="Yu Gothic"/>
              </a:rPr>
              <a:t>月額 ＋ ポイント制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2311200" y="990000"/>
            <a:ext cx="7984800" cy="46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37200" y="1044000"/>
            <a:ext cx="77328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"/>
              </a:spcAft>
            </a:pPr>
            <a:r>
              <a:rPr sz="840" b="1" i="0">
                <a:solidFill>
                  <a:srgbClr val="1F3864"/>
                </a:solidFill>
                <a:latin typeface="Yu Gothic"/>
                <a:ea typeface="Yu Gothic"/>
              </a:rPr>
              <a:t>2コース（範囲）× 2プラン（同時案件数）＝ 4プラン</a:t>
            </a:r>
            <a:r>
              <a:rPr sz="840" b="0" i="0">
                <a:solidFill>
                  <a:srgbClr val="333333"/>
                </a:solidFill>
                <a:latin typeface="Yu Gothic"/>
                <a:ea typeface="Yu Gothic"/>
              </a:rPr>
              <a:t>。月額に応じて毎月ポイントを付与し、スキル起動ごとに消化。</a:t>
            </a:r>
            <a:r>
              <a:rPr sz="840" b="1" i="0">
                <a:solidFill>
                  <a:srgbClr val="1F3864"/>
                </a:solidFill>
                <a:latin typeface="Yu Gothic"/>
                <a:ea typeface="Yu Gothic"/>
              </a:rPr>
              <a:t>専任チーム相当を、解約できる変動費で</a:t>
            </a:r>
            <a:r>
              <a:rPr sz="840" b="0" i="0">
                <a:solidFill>
                  <a:srgbClr val="333333"/>
                </a:solidFill>
                <a:latin typeface="Yu Gothic"/>
                <a:ea typeface="Yu Gothic"/>
              </a:rPr>
              <a:t>。入口は</a:t>
            </a:r>
            <a:r>
              <a:rPr sz="840" b="1" i="0">
                <a:solidFill>
                  <a:srgbClr val="1F3864"/>
                </a:solidFill>
                <a:latin typeface="Yu Gothic"/>
                <a:ea typeface="Yu Gothic"/>
              </a:rPr>
              <a:t>3ヶ月パイロット（▲40%）</a:t>
            </a:r>
            <a:r>
              <a:rPr sz="840" b="0" i="0">
                <a:solidFill>
                  <a:srgbClr val="333333"/>
                </a:solidFill>
                <a:latin typeface="Yu Gothic"/>
                <a:ea typeface="Yu Gothic"/>
              </a:rPr>
              <a:t>、最低継続6ヶ月（縛りはダウングレード/解約のみ、アップグレードは随時・日割り可）。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000" y="1616400"/>
            <a:ext cx="43200" cy="1512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400" y="1602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950" b="1" i="0">
                <a:solidFill>
                  <a:srgbClr val="1F3864"/>
                </a:solidFill>
                <a:latin typeface="Yu Gothic"/>
                <a:ea typeface="Yu Gothic"/>
              </a:rPr>
              <a:t>プラン ｜ 2コース × 2プラン = 4プラン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" y="1818000"/>
          <a:ext cx="5148000" cy="136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0000"/>
                <a:gridCol w="1188000"/>
                <a:gridCol w="720000"/>
                <a:gridCol w="576000"/>
                <a:gridCol w="720000"/>
                <a:gridCol w="504000"/>
              </a:tblGrid>
              <a:tr h="273600">
                <a:tc>
                  <a:txBody>
                    <a:bodyPr/>
                    <a:lstStyle/>
                    <a:p>
                      <a:pPr algn="l"/>
                      <a:r>
                        <a:rPr sz="72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プラン</a:t>
                      </a:r>
                    </a:p>
                  </a:txBody>
                  <a:tcPr marL="57600" marR="57600" marT="28800" marB="28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コース（範囲）</a:t>
                      </a:r>
                    </a:p>
                  </a:txBody>
                  <a:tcPr marL="57600" marR="57600" marT="28800" marB="28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同時案件数</a:t>
                      </a:r>
                    </a:p>
                  </a:txBody>
                  <a:tcPr marL="57600" marR="57600" marT="28800" marB="28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付与pt/月</a:t>
                      </a:r>
                    </a:p>
                  </a:txBody>
                  <a:tcPr marL="57600" marR="57600" marT="28800" marB="28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月額（税別）</a:t>
                      </a:r>
                    </a:p>
                  </a:txBody>
                  <a:tcPr marL="57600" marR="57600" marT="28800" marB="28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最低継続</a:t>
                      </a:r>
                    </a:p>
                  </a:txBody>
                  <a:tcPr marL="57600" marR="57600" marT="28800" marB="28800" anchor="ctr">
                    <a:solidFill>
                      <a:srgbClr val="1F3864"/>
                    </a:solidFill>
                  </a:tcPr>
                </a:tc>
              </a:tr>
              <a:tr h="2736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ディレクター・ライト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評価まで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1案件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D4A017"/>
                          </a:solidFill>
                          <a:latin typeface="Yu Gothic"/>
                          <a:ea typeface="Yu Gothic"/>
                        </a:rPr>
                        <a:t>55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50 万円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6ヶ月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ディレクター・スタンダード</a:t>
                      </a:r>
                    </a:p>
                  </a:txBody>
                  <a:tcPr marL="57600" marR="57600" marT="21600" marB="216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評価まで</a:t>
                      </a:r>
                    </a:p>
                  </a:txBody>
                  <a:tcPr marL="57600" marR="57600" marT="21600" marB="216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最大3案件</a:t>
                      </a:r>
                    </a:p>
                  </a:txBody>
                  <a:tcPr marL="57600" marR="57600" marT="21600" marB="216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D4A017"/>
                          </a:solidFill>
                          <a:latin typeface="Yu Gothic"/>
                          <a:ea typeface="Yu Gothic"/>
                        </a:rPr>
                        <a:t>110</a:t>
                      </a:r>
                    </a:p>
                  </a:txBody>
                  <a:tcPr marL="57600" marR="57600" marT="21600" marB="216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90 万円</a:t>
                      </a:r>
                    </a:p>
                  </a:txBody>
                  <a:tcPr marL="57600" marR="57600" marT="21600" marB="216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6ヶ月</a:t>
                      </a:r>
                    </a:p>
                  </a:txBody>
                  <a:tcPr marL="57600" marR="57600" marT="21600" marB="21600" anchor="ctr">
                    <a:solidFill>
                      <a:srgbClr val="FAFBFD"/>
                    </a:solidFill>
                  </a:tcPr>
                </a:tc>
              </a:tr>
              <a:tr h="2736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パートナー・ライト</a:t>
                      </a:r>
                    </a:p>
                  </a:txBody>
                  <a:tcPr marL="57600" marR="57600" marT="21600" marB="216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実行まで（DD以降）</a:t>
                      </a:r>
                    </a:p>
                  </a:txBody>
                  <a:tcPr marL="57600" marR="57600" marT="21600" marB="216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1案件</a:t>
                      </a:r>
                    </a:p>
                  </a:txBody>
                  <a:tcPr marL="57600" marR="57600" marT="21600" marB="216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D4A017"/>
                          </a:solidFill>
                          <a:latin typeface="Yu Gothic"/>
                          <a:ea typeface="Yu Gothic"/>
                        </a:rPr>
                        <a:t>100</a:t>
                      </a:r>
                    </a:p>
                  </a:txBody>
                  <a:tcPr marL="57600" marR="57600" marT="21600" marB="216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110 万円</a:t>
                      </a:r>
                    </a:p>
                  </a:txBody>
                  <a:tcPr marL="57600" marR="57600" marT="21600" marB="216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6ヶ月</a:t>
                      </a:r>
                    </a:p>
                  </a:txBody>
                  <a:tcPr marL="57600" marR="57600" marT="21600" marB="21600" anchor="ctr">
                    <a:solidFill>
                      <a:srgbClr val="EEF1F7"/>
                    </a:solidFill>
                  </a:tcPr>
                </a:tc>
              </a:tr>
              <a:tr h="2736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パートナー・スタンダード</a:t>
                      </a:r>
                    </a:p>
                  </a:txBody>
                  <a:tcPr marL="57600" marR="57600" marT="21600" marB="216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実行まで（DD以降）</a:t>
                      </a:r>
                    </a:p>
                  </a:txBody>
                  <a:tcPr marL="57600" marR="57600" marT="21600" marB="216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最大3案件</a:t>
                      </a:r>
                    </a:p>
                  </a:txBody>
                  <a:tcPr marL="57600" marR="57600" marT="21600" marB="216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D4A017"/>
                          </a:solidFill>
                          <a:latin typeface="Yu Gothic"/>
                          <a:ea typeface="Yu Gothic"/>
                        </a:rPr>
                        <a:t>200</a:t>
                      </a:r>
                    </a:p>
                  </a:txBody>
                  <a:tcPr marL="57600" marR="57600" marT="21600" marB="216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200 万円</a:t>
                      </a:r>
                    </a:p>
                  </a:txBody>
                  <a:tcPr marL="57600" marR="57600" marT="21600" marB="216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6ヶ月</a:t>
                      </a:r>
                    </a:p>
                  </a:txBody>
                  <a:tcPr marL="57600" marR="57600" marT="21600" marB="21600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96000" y="3276000"/>
            <a:ext cx="253800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000" y="3276000"/>
            <a:ext cx="2538000" cy="324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400" y="3340800"/>
            <a:ext cx="23652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650" b="1" i="0">
                <a:solidFill>
                  <a:srgbClr val="D4A017"/>
                </a:solidFill>
                <a:latin typeface="Yu Gothic"/>
                <a:ea typeface="Yu Gothic"/>
              </a:rPr>
              <a:t>軸1 ｜ コース＝範囲</a:t>
            </a:r>
          </a:p>
          <a:p>
            <a:pPr algn="l">
              <a:lnSpc>
                <a:spcPct val="128000"/>
              </a:lnSpc>
              <a:spcAft>
                <a:spcPts val="40"/>
              </a:spcAft>
            </a:pPr>
            <a:r>
              <a:rPr sz="730" b="1" i="0">
                <a:solidFill>
                  <a:srgbClr val="1F3864"/>
                </a:solidFill>
                <a:latin typeface="Yu Gothic"/>
                <a:ea typeface="Yu Gothic"/>
              </a:rPr>
              <a:t>評価まで（ディレクター）／DD以降の実行まで（パートナー）</a:t>
            </a:r>
            <a:r>
              <a:rPr sz="730" b="0" i="0">
                <a:solidFill>
                  <a:srgbClr val="333333"/>
                </a:solidFill>
                <a:latin typeface="Yu Gothic"/>
                <a:ea typeface="Yu Gothic"/>
              </a:rPr>
              <a:t>。DD・IC・PMI・戦略策定はパートナーコース限定。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06000" y="3276000"/>
            <a:ext cx="253800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06000" y="3276000"/>
            <a:ext cx="2538000" cy="324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92400" y="3340800"/>
            <a:ext cx="23652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650" b="1" i="0">
                <a:solidFill>
                  <a:srgbClr val="D4A017"/>
                </a:solidFill>
                <a:latin typeface="Yu Gothic"/>
                <a:ea typeface="Yu Gothic"/>
              </a:rPr>
              <a:t>軸2 ｜ プラン＝同時案件数</a:t>
            </a:r>
          </a:p>
          <a:p>
            <a:pPr algn="l">
              <a:lnSpc>
                <a:spcPct val="128000"/>
              </a:lnSpc>
              <a:spcAft>
                <a:spcPts val="40"/>
              </a:spcAft>
            </a:pPr>
            <a:r>
              <a:rPr sz="730" b="1" i="0">
                <a:solidFill>
                  <a:srgbClr val="1F3864"/>
                </a:solidFill>
                <a:latin typeface="Yu Gothic"/>
                <a:ea typeface="Yu Gothic"/>
              </a:rPr>
              <a:t>ライト＝1案件／スタンダード＝最大3案件</a:t>
            </a:r>
            <a:r>
              <a:rPr sz="730" b="0" i="0">
                <a:solidFill>
                  <a:srgbClr val="333333"/>
                </a:solidFill>
                <a:latin typeface="Yu Gothic"/>
                <a:ea typeface="Yu Gothic"/>
              </a:rPr>
              <a:t>（同時並行）。速さ・質は全プラン共通の土台。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" y="3956400"/>
            <a:ext cx="43200" cy="1512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400" y="3942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950" b="1" i="0">
                <a:solidFill>
                  <a:srgbClr val="1F3864"/>
                </a:solidFill>
                <a:latin typeface="Yu Gothic"/>
                <a:ea typeface="Yu Gothic"/>
              </a:rPr>
              <a:t>ポイント消化の仕組み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000" y="4158000"/>
            <a:ext cx="2538000" cy="10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400" y="4222800"/>
            <a:ext cx="2365200" cy="9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"/>
              </a:spcAft>
            </a:pPr>
            <a:r>
              <a:rPr sz="700" b="1" i="0">
                <a:solidFill>
                  <a:srgbClr val="1F3864"/>
                </a:solidFill>
                <a:latin typeface="Yu Gothic"/>
                <a:ea typeface="Yu Gothic"/>
              </a:rPr>
              <a:t>消化pt ＝ 委任Tier連動（1起動で消化）</a:t>
            </a: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sz="720" b="1" i="0">
                <a:solidFill>
                  <a:srgbClr val="D4A017"/>
                </a:solidFill>
                <a:latin typeface="Yu Gothic"/>
                <a:ea typeface="Yu Gothic"/>
              </a:rPr>
              <a:t>1 pt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　完全委任（AIにすべて任せる）</a:t>
            </a: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sz="720" b="1" i="0">
                <a:solidFill>
                  <a:srgbClr val="D4A017"/>
                </a:solidFill>
                <a:latin typeface="Yu Gothic"/>
                <a:ea typeface="Yu Gothic"/>
              </a:rPr>
              <a:t>2 pt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　ドラフト委任・代行可</a:t>
            </a:r>
          </a:p>
          <a:p>
            <a:pPr algn="l">
              <a:lnSpc>
                <a:spcPct val="115000"/>
              </a:lnSpc>
              <a:spcAft>
                <a:spcPts val="80"/>
              </a:spcAft>
            </a:pPr>
            <a:r>
              <a:rPr sz="720" b="1" i="0">
                <a:solidFill>
                  <a:srgbClr val="D4A017"/>
                </a:solidFill>
                <a:latin typeface="Yu Gothic"/>
                <a:ea typeface="Yu Gothic"/>
              </a:rPr>
              <a:t>5 pt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　対話・独立セッション実施</a:t>
            </a:r>
          </a:p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720" b="1" i="0">
                <a:solidFill>
                  <a:srgbClr val="D4A017"/>
                </a:solidFill>
                <a:latin typeface="Yu Gothic"/>
                <a:ea typeface="Yu Gothic"/>
              </a:rPr>
              <a:t>7 pt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　相談（1時間あたり）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06000" y="4158000"/>
            <a:ext cx="2538000" cy="10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2400" y="4222800"/>
            <a:ext cx="2365200" cy="9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"/>
              </a:spcAft>
            </a:pPr>
            <a:r>
              <a:rPr sz="700" b="1" i="0">
                <a:solidFill>
                  <a:srgbClr val="1F3864"/>
                </a:solidFill>
                <a:latin typeface="Yu Gothic"/>
                <a:ea typeface="Yu Gothic"/>
              </a:rPr>
              <a:t>品質保証・運用ルール</a:t>
            </a:r>
          </a:p>
          <a:p>
            <a:pPr algn="l">
              <a:lnSpc>
                <a:spcPct val="128000"/>
              </a:lnSpc>
              <a:spcAft>
                <a:spcPts val="120"/>
              </a:spcAft>
            </a:pPr>
            <a:r>
              <a:rPr sz="710" b="1" i="0">
                <a:solidFill>
                  <a:srgbClr val="1F3864"/>
                </a:solidFill>
                <a:latin typeface="Yu Gothic"/>
                <a:ea typeface="Yu Gothic"/>
              </a:rPr>
              <a:t>判断系</a:t>
            </a:r>
            <a:r>
              <a:rPr sz="710" b="0" i="0">
                <a:solidFill>
                  <a:srgbClr val="333333"/>
                </a:solidFill>
                <a:latin typeface="Yu Gothic"/>
                <a:ea typeface="Yu Gothic"/>
              </a:rPr>
              <a:t>＝代表がレビュー（品質責任は代表）、</a:t>
            </a:r>
            <a:r>
              <a:rPr sz="710" b="1" i="0">
                <a:solidFill>
                  <a:srgbClr val="1F3864"/>
                </a:solidFill>
                <a:latin typeface="Yu Gothic"/>
                <a:ea typeface="Yu Gothic"/>
              </a:rPr>
              <a:t>分析系</a:t>
            </a:r>
            <a:r>
              <a:rPr sz="710" b="0" i="0">
                <a:solidFill>
                  <a:srgbClr val="333333"/>
                </a:solidFill>
                <a:latin typeface="Yu Gothic"/>
                <a:ea typeface="Yu Gothic"/>
              </a:rPr>
              <a:t>＝AI生成・レビュー任意（バリュエーションは推奨）。</a:t>
            </a:r>
          </a:p>
          <a:p>
            <a:pPr algn="l">
              <a:lnSpc>
                <a:spcPct val="128000"/>
              </a:lnSpc>
              <a:spcAft>
                <a:spcPts val="40"/>
              </a:spcAft>
            </a:pPr>
            <a:r>
              <a:rPr sz="710" b="0" i="0">
                <a:solidFill>
                  <a:srgbClr val="333333"/>
                </a:solidFill>
                <a:latin typeface="Yu Gothic"/>
                <a:ea typeface="Yu Gothic"/>
              </a:rPr>
              <a:t>ゲートは</a:t>
            </a:r>
            <a:r>
              <a:rPr sz="710" b="1" i="0">
                <a:solidFill>
                  <a:srgbClr val="1F3864"/>
                </a:solidFill>
                <a:latin typeface="Yu Gothic"/>
                <a:ea typeface="Yu Gothic"/>
              </a:rPr>
              <a:t>ハード</a:t>
            </a:r>
            <a:r>
              <a:rPr sz="710" b="0" i="0">
                <a:solidFill>
                  <a:srgbClr val="333333"/>
                </a:solidFill>
                <a:latin typeface="Yu Gothic"/>
                <a:ea typeface="Yu Gothic"/>
              </a:rPr>
              <a:t>（コース外スキル不可）。繰越なし（月次リセット）。付与ptは上限であり消費保証ではない。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6000" y="5364000"/>
            <a:ext cx="5148000" cy="504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600" y="5421600"/>
            <a:ext cx="49608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650" b="1" i="0">
                <a:solidFill>
                  <a:srgbClr val="D4A017"/>
                </a:solidFill>
                <a:latin typeface="Yu Gothic"/>
                <a:ea typeface="Yu Gothic"/>
              </a:rPr>
              <a:t>フィーの位置づけ</a:t>
            </a:r>
          </a:p>
          <a:p>
            <a:pPr algn="l">
              <a:lnSpc>
                <a:spcPct val="128000"/>
              </a:lnSpc>
              <a:spcAft>
                <a:spcPts val="40"/>
              </a:spcAft>
            </a:pPr>
            <a:r>
              <a:rPr sz="720" b="1" i="0">
                <a:solidFill>
                  <a:srgbClr val="1F3864"/>
                </a:solidFill>
                <a:latin typeface="Yu Gothic"/>
                <a:ea typeface="Yu Gothic"/>
              </a:rPr>
              <a:t>投資1件（エクイティ数十億円）の1%未満</a:t>
            </a:r>
            <a:r>
              <a:rPr sz="720" b="0" i="0">
                <a:solidFill>
                  <a:srgbClr val="333333"/>
                </a:solidFill>
                <a:latin typeface="Yu Gothic"/>
                <a:ea typeface="Yu Gothic"/>
              </a:rPr>
              <a:t>＝“保険”と“コールオプション”を同時に買う非対称性。追加購入は割高（枠内消費・上位プランへ誘導）。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24000" y="1616400"/>
            <a:ext cx="43200" cy="1512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10400" y="1602000"/>
            <a:ext cx="457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950" b="1" i="0">
                <a:solidFill>
                  <a:srgbClr val="1F3864"/>
                </a:solidFill>
                <a:latin typeface="Yu Gothic"/>
                <a:ea typeface="Yu Gothic"/>
              </a:rPr>
              <a:t>スキル別 消化pt・利用可能コース（全25スキル）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724000" y="1818000"/>
          <a:ext cx="4572000" cy="47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00"/>
                <a:gridCol w="2556000"/>
                <a:gridCol w="468000"/>
                <a:gridCol w="828000"/>
              </a:tblGrid>
              <a:tr h="19008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フェーズ</a:t>
                      </a:r>
                    </a:p>
                  </a:txBody>
                  <a:tcPr marL="50400" marR="50400" marT="18000" marB="18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スキル</a:t>
                      </a:r>
                    </a:p>
                  </a:txBody>
                  <a:tcPr marL="50400" marR="50400" marT="18000" marB="18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消化pt</a:t>
                      </a:r>
                    </a:p>
                  </a:txBody>
                  <a:tcPr marL="50400" marR="50400" marT="18000" marB="18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コース</a:t>
                      </a:r>
                    </a:p>
                  </a:txBody>
                  <a:tcPr marL="50400" marR="50400" marT="18000" marB="18000" anchor="ctr">
                    <a:solidFill>
                      <a:srgbClr val="1F3864"/>
                    </a:solidFill>
                  </a:tcPr>
                </a:tc>
              </a:tr>
              <a:tr h="190080">
                <a:tc rowSpan="2">
                  <a:txBody>
                    <a:bodyPr/>
                    <a:lstStyle/>
                    <a:p>
                      <a:r>
                        <a:rPr sz="68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戦略策定</a:t>
                      </a:r>
                    </a:p>
                  </a:txBody>
                  <a:tcPr marL="50400" marR="504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戦略策定エンジン</a:t>
                      </a:r>
                      <a:r>
                        <a:rPr sz="640" b="1" i="0">
                          <a:solidFill>
                            <a:srgbClr val="C00000"/>
                          </a:solidFill>
                          <a:latin typeface="Yu Gothic"/>
                          <a:ea typeface="Yu Gothic"/>
                        </a:rPr>
                        <a:t> ◆判断</a:t>
                      </a:r>
                    </a:p>
                  </a:txBody>
                  <a:tcPr marL="50400" marR="504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5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パートナー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</a:tr>
              <a:tr h="19008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挑戦的問い</a:t>
                      </a:r>
                    </a:p>
                  </a:txBody>
                  <a:tcPr marL="50400" marR="50400"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1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 i="0">
                          <a:solidFill>
                            <a:srgbClr val="44546A"/>
                          </a:solidFill>
                          <a:latin typeface="Yu Gothic"/>
                          <a:ea typeface="Yu Gothic"/>
                        </a:rPr>
                        <a:t>両コース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</a:tr>
              <a:tr h="190080">
                <a:tc rowSpan="4">
                  <a:txBody>
                    <a:bodyPr/>
                    <a:lstStyle/>
                    <a:p>
                      <a:r>
                        <a:rPr sz="68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ソーシング</a:t>
                      </a:r>
                    </a:p>
                  </a:txBody>
                  <a:tcPr marL="50400" marR="504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ロングリスト</a:t>
                      </a:r>
                    </a:p>
                  </a:txBody>
                  <a:tcPr marL="50400" marR="504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1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 i="0">
                          <a:solidFill>
                            <a:srgbClr val="44546A"/>
                          </a:solidFill>
                          <a:latin typeface="Yu Gothic"/>
                          <a:ea typeface="Yu Gothic"/>
                        </a:rPr>
                        <a:t>両コース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</a:tr>
              <a:tr h="19008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ショートリスト</a:t>
                      </a:r>
                    </a:p>
                  </a:txBody>
                  <a:tcPr marL="50400" marR="50400"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1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 i="0">
                          <a:solidFill>
                            <a:srgbClr val="44546A"/>
                          </a:solidFill>
                          <a:latin typeface="Yu Gothic"/>
                          <a:ea typeface="Yu Gothic"/>
                        </a:rPr>
                        <a:t>両コース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</a:tr>
              <a:tr h="19008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売却可能性調査</a:t>
                      </a:r>
                    </a:p>
                  </a:txBody>
                  <a:tcPr marL="50400" marR="504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1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 i="0">
                          <a:solidFill>
                            <a:srgbClr val="44546A"/>
                          </a:solidFill>
                          <a:latin typeface="Yu Gothic"/>
                          <a:ea typeface="Yu Gothic"/>
                        </a:rPr>
                        <a:t>両コース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</a:tr>
              <a:tr h="19008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初期アプローチ提案</a:t>
                      </a:r>
                      <a:r>
                        <a:rPr sz="640" b="1" i="0">
                          <a:solidFill>
                            <a:srgbClr val="C00000"/>
                          </a:solidFill>
                          <a:latin typeface="Yu Gothic"/>
                          <a:ea typeface="Yu Gothic"/>
                        </a:rPr>
                        <a:t> ◆判断</a:t>
                      </a:r>
                    </a:p>
                  </a:txBody>
                  <a:tcPr marL="50400" marR="50400"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2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 i="0">
                          <a:solidFill>
                            <a:srgbClr val="44546A"/>
                          </a:solidFill>
                          <a:latin typeface="Yu Gothic"/>
                          <a:ea typeface="Yu Gothic"/>
                        </a:rPr>
                        <a:t>両コース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</a:tr>
              <a:tr h="190080">
                <a:tc rowSpan="11">
                  <a:txBody>
                    <a:bodyPr/>
                    <a:lstStyle/>
                    <a:p>
                      <a:r>
                        <a:rPr sz="68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案件評価</a:t>
                      </a:r>
                    </a:p>
                  </a:txBody>
                  <a:tcPr marL="50400" marR="504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案件評価・総合</a:t>
                      </a:r>
                      <a:r>
                        <a:rPr sz="640" b="1" i="0">
                          <a:solidFill>
                            <a:srgbClr val="C00000"/>
                          </a:solidFill>
                          <a:latin typeface="Yu Gothic"/>
                          <a:ea typeface="Yu Gothic"/>
                        </a:rPr>
                        <a:t> ◆判断</a:t>
                      </a:r>
                    </a:p>
                  </a:txBody>
                  <a:tcPr marL="50400" marR="504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5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 i="0">
                          <a:solidFill>
                            <a:srgbClr val="44546A"/>
                          </a:solidFill>
                          <a:latin typeface="Yu Gothic"/>
                          <a:ea typeface="Yu Gothic"/>
                        </a:rPr>
                        <a:t>両コース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</a:tr>
              <a:tr h="19008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バリュエーション（推奨）</a:t>
                      </a:r>
                    </a:p>
                  </a:txBody>
                  <a:tcPr marL="50400" marR="50400"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2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 i="0">
                          <a:solidFill>
                            <a:srgbClr val="44546A"/>
                          </a:solidFill>
                          <a:latin typeface="Yu Gothic"/>
                          <a:ea typeface="Yu Gothic"/>
                        </a:rPr>
                        <a:t>両コース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</a:tr>
              <a:tr h="19008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4シナリオProjection</a:t>
                      </a:r>
                    </a:p>
                  </a:txBody>
                  <a:tcPr marL="50400" marR="504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2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 i="0">
                          <a:solidFill>
                            <a:srgbClr val="44546A"/>
                          </a:solidFill>
                          <a:latin typeface="Yu Gothic"/>
                          <a:ea typeface="Yu Gothic"/>
                        </a:rPr>
                        <a:t>両コース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</a:tr>
              <a:tr h="19008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Pro Forma</a:t>
                      </a:r>
                    </a:p>
                  </a:txBody>
                  <a:tcPr marL="50400" marR="50400"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2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 i="0">
                          <a:solidFill>
                            <a:srgbClr val="44546A"/>
                          </a:solidFill>
                          <a:latin typeface="Yu Gothic"/>
                          <a:ea typeface="Yu Gothic"/>
                        </a:rPr>
                        <a:t>両コース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</a:tr>
              <a:tr h="19008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財務分析</a:t>
                      </a:r>
                    </a:p>
                  </a:txBody>
                  <a:tcPr marL="50400" marR="504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1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 i="0">
                          <a:solidFill>
                            <a:srgbClr val="44546A"/>
                          </a:solidFill>
                          <a:latin typeface="Yu Gothic"/>
                          <a:ea typeface="Yu Gothic"/>
                        </a:rPr>
                        <a:t>両コース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</a:tr>
              <a:tr h="19008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シナジー分析</a:t>
                      </a:r>
                    </a:p>
                  </a:txBody>
                  <a:tcPr marL="50400" marR="50400"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1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 i="0">
                          <a:solidFill>
                            <a:srgbClr val="44546A"/>
                          </a:solidFill>
                          <a:latin typeface="Yu Gothic"/>
                          <a:ea typeface="Yu Gothic"/>
                        </a:rPr>
                        <a:t>両コース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</a:tr>
              <a:tr h="19008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市場分析</a:t>
                      </a:r>
                    </a:p>
                  </a:txBody>
                  <a:tcPr marL="50400" marR="504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1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 i="0">
                          <a:solidFill>
                            <a:srgbClr val="44546A"/>
                          </a:solidFill>
                          <a:latin typeface="Yu Gothic"/>
                          <a:ea typeface="Yu Gothic"/>
                        </a:rPr>
                        <a:t>両コース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</a:tr>
              <a:tr h="19008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ビジネスモデル／マップ</a:t>
                      </a:r>
                    </a:p>
                  </a:txBody>
                  <a:tcPr marL="50400" marR="50400"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1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 i="0">
                          <a:solidFill>
                            <a:srgbClr val="44546A"/>
                          </a:solidFill>
                          <a:latin typeface="Yu Gothic"/>
                          <a:ea typeface="Yu Gothic"/>
                        </a:rPr>
                        <a:t>両コース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</a:tr>
              <a:tr h="19008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競合分析</a:t>
                      </a:r>
                    </a:p>
                  </a:txBody>
                  <a:tcPr marL="50400" marR="504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1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 i="0">
                          <a:solidFill>
                            <a:srgbClr val="44546A"/>
                          </a:solidFill>
                          <a:latin typeface="Yu Gothic"/>
                          <a:ea typeface="Yu Gothic"/>
                        </a:rPr>
                        <a:t>両コース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</a:tr>
              <a:tr h="19008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経営陣評価</a:t>
                      </a:r>
                    </a:p>
                  </a:txBody>
                  <a:tcPr marL="50400" marR="50400"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1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 i="0">
                          <a:solidFill>
                            <a:srgbClr val="44546A"/>
                          </a:solidFill>
                          <a:latin typeface="Yu Gothic"/>
                          <a:ea typeface="Yu Gothic"/>
                        </a:rPr>
                        <a:t>両コース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</a:tr>
              <a:tr h="19008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リスク評価</a:t>
                      </a:r>
                    </a:p>
                  </a:txBody>
                  <a:tcPr marL="50400" marR="504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1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 i="0">
                          <a:solidFill>
                            <a:srgbClr val="44546A"/>
                          </a:solidFill>
                          <a:latin typeface="Yu Gothic"/>
                          <a:ea typeface="Yu Gothic"/>
                        </a:rPr>
                        <a:t>両コース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</a:tr>
              <a:tr h="190080">
                <a:tc>
                  <a:txBody>
                    <a:bodyPr/>
                    <a:lstStyle/>
                    <a:p>
                      <a:r>
                        <a:rPr sz="68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論点討議</a:t>
                      </a:r>
                    </a:p>
                  </a:txBody>
                  <a:tcPr marL="50400" marR="504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論点討議 α／本編</a:t>
                      </a:r>
                      <a:r>
                        <a:rPr sz="640" b="1" i="0">
                          <a:solidFill>
                            <a:srgbClr val="C00000"/>
                          </a:solidFill>
                          <a:latin typeface="Yu Gothic"/>
                          <a:ea typeface="Yu Gothic"/>
                        </a:rPr>
                        <a:t> ◆判断</a:t>
                      </a:r>
                    </a:p>
                  </a:txBody>
                  <a:tcPr marL="50400" marR="50400"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1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 i="0">
                          <a:solidFill>
                            <a:srgbClr val="44546A"/>
                          </a:solidFill>
                          <a:latin typeface="Yu Gothic"/>
                          <a:ea typeface="Yu Gothic"/>
                        </a:rPr>
                        <a:t>両コース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</a:tr>
              <a:tr h="190080">
                <a:tc rowSpan="4">
                  <a:txBody>
                    <a:bodyPr/>
                    <a:lstStyle/>
                    <a:p>
                      <a:r>
                        <a:rPr sz="68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DD・交渉</a:t>
                      </a:r>
                    </a:p>
                    <a:p>
                      <a:r>
                        <a:rPr sz="68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・意思決定</a:t>
                      </a:r>
                    </a:p>
                  </a:txBody>
                  <a:tcPr marL="50400" marR="504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DD計画</a:t>
                      </a:r>
                      <a:r>
                        <a:rPr sz="640" b="1" i="0">
                          <a:solidFill>
                            <a:srgbClr val="C00000"/>
                          </a:solidFill>
                          <a:latin typeface="Yu Gothic"/>
                          <a:ea typeface="Yu Gothic"/>
                        </a:rPr>
                        <a:t> ◆判断</a:t>
                      </a:r>
                    </a:p>
                  </a:txBody>
                  <a:tcPr marL="50400" marR="504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2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パートナー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</a:tr>
              <a:tr h="19008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DD分析・統合</a:t>
                      </a:r>
                      <a:r>
                        <a:rPr sz="640" b="1" i="0">
                          <a:solidFill>
                            <a:srgbClr val="C00000"/>
                          </a:solidFill>
                          <a:latin typeface="Yu Gothic"/>
                          <a:ea typeface="Yu Gothic"/>
                        </a:rPr>
                        <a:t> ◆判断</a:t>
                      </a:r>
                    </a:p>
                  </a:txBody>
                  <a:tcPr marL="50400" marR="50400"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5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パートナー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</a:tr>
              <a:tr h="19008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SPA交渉支援</a:t>
                      </a:r>
                      <a:r>
                        <a:rPr sz="640" b="1" i="0">
                          <a:solidFill>
                            <a:srgbClr val="C00000"/>
                          </a:solidFill>
                          <a:latin typeface="Yu Gothic"/>
                          <a:ea typeface="Yu Gothic"/>
                        </a:rPr>
                        <a:t> ◆判断</a:t>
                      </a:r>
                    </a:p>
                  </a:txBody>
                  <a:tcPr marL="50400" marR="504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2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パートナー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</a:tr>
              <a:tr h="19008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IC・契約起案</a:t>
                      </a:r>
                      <a:r>
                        <a:rPr sz="640" b="1" i="0">
                          <a:solidFill>
                            <a:srgbClr val="C00000"/>
                          </a:solidFill>
                          <a:latin typeface="Yu Gothic"/>
                          <a:ea typeface="Yu Gothic"/>
                        </a:rPr>
                        <a:t> ◆判断</a:t>
                      </a:r>
                    </a:p>
                  </a:txBody>
                  <a:tcPr marL="50400" marR="50400"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5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パートナー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</a:tr>
              <a:tr h="190080">
                <a:tc>
                  <a:txBody>
                    <a:bodyPr/>
                    <a:lstStyle/>
                    <a:p>
                      <a:r>
                        <a:rPr sz="68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PMI</a:t>
                      </a:r>
                    </a:p>
                  </a:txBody>
                  <a:tcPr marL="50400" marR="504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PMI・100日・買収後経営</a:t>
                      </a:r>
                      <a:r>
                        <a:rPr sz="640" b="1" i="0">
                          <a:solidFill>
                            <a:srgbClr val="C00000"/>
                          </a:solidFill>
                          <a:latin typeface="Yu Gothic"/>
                          <a:ea typeface="Yu Gothic"/>
                        </a:rPr>
                        <a:t> ◆判断</a:t>
                      </a:r>
                    </a:p>
                  </a:txBody>
                  <a:tcPr marL="50400" marR="504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5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パートナー</a:t>
                      </a:r>
                    </a:p>
                  </a:txBody>
                  <a:tcPr marT="10800" marB="10800" anchor="ctr">
                    <a:solidFill>
                      <a:srgbClr val="FFFFFF"/>
                    </a:solidFill>
                  </a:tcPr>
                </a:tc>
              </a:tr>
              <a:tr h="190080">
                <a:tc>
                  <a:txBody>
                    <a:bodyPr/>
                    <a:lstStyle/>
                    <a:p>
                      <a:r>
                        <a:rPr sz="68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相談</a:t>
                      </a:r>
                    </a:p>
                  </a:txBody>
                  <a:tcPr marL="50400" marR="504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 i="0">
                          <a:solidFill>
                            <a:srgbClr val="333333"/>
                          </a:solidFill>
                          <a:latin typeface="Yu Gothic"/>
                          <a:ea typeface="Yu Gothic"/>
                        </a:rPr>
                        <a:t>相談（1時間あたり）</a:t>
                      </a:r>
                    </a:p>
                  </a:txBody>
                  <a:tcPr marL="50400" marR="50400"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7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 i="0">
                          <a:solidFill>
                            <a:srgbClr val="44546A"/>
                          </a:solidFill>
                          <a:latin typeface="Yu Gothic"/>
                          <a:ea typeface="Yu Gothic"/>
                        </a:rPr>
                        <a:t>両コース</a:t>
                      </a:r>
                    </a:p>
                  </a:txBody>
                  <a:tcPr marT="10800" marB="10800" anchor="ctr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96000" y="6696000"/>
            <a:ext cx="9900000" cy="1260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6000" y="6750000"/>
            <a:ext cx="99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"/>
              </a:spcAft>
            </a:pPr>
            <a:r>
              <a:rPr sz="640" b="0" i="0">
                <a:solidFill>
                  <a:srgbClr val="44546A"/>
                </a:solidFill>
                <a:latin typeface="Yu Gothic"/>
                <a:ea typeface="Yu Gothic"/>
              </a:rPr>
              <a:t>※ ◆判断＝代表レビュー必須（差別化の核）。無印＝分析（AI生成・レビュー任意）。消化pt＝委任Tier（完全委任1／ドラフト委任2／対話・独立セッション5）連動。「評価まで」のスキルは両コース、DD以降＋戦略策定はパートナーコース限定。非課金：内部利用・凍結・別運用・個人運用・コンサル専用。</a:t>
            </a:r>
          </a:p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660" b="1" i="0">
                <a:solidFill>
                  <a:srgbClr val="C00000"/>
                </a:solidFill>
                <a:latin typeface="Yu Gothic"/>
                <a:ea typeface="Yu Gothic"/>
              </a:rPr>
              <a:t>本紙の金額・付与pt・消化ptはすべて仮のものであり、最終条件は個別提案・協議のうえ確定します。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6000" y="7182000"/>
            <a:ext cx="9900000" cy="16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6000" y="7236000"/>
            <a:ext cx="72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"/>
              </a:spcAft>
            </a:pPr>
            <a:r>
              <a:rPr sz="700" b="0" i="0">
                <a:solidFill>
                  <a:srgbClr val="44546A"/>
                </a:solidFill>
                <a:latin typeface="Yu Gothic"/>
                <a:ea typeface="Yu Gothic"/>
              </a:rPr>
              <a:t>出典：料金体系_v3_20260704.xlsx（仮案・プラン別／スキル別／前提・改定履歴）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6000" y="7236000"/>
            <a:ext cx="25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"/>
              </a:spcAft>
            </a:pPr>
            <a:r>
              <a:rPr sz="700" b="0" i="0">
                <a:solidFill>
                  <a:srgbClr val="44546A"/>
                </a:solidFill>
                <a:latin typeface="Yu Gothic"/>
                <a:ea typeface="Yu Gothic"/>
              </a:rPr>
              <a:t>© 2026 Design Management LLC　　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